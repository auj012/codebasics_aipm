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6" r:id="rId5"/>
    <p:sldId id="259" r:id="rId6"/>
    <p:sldId id="267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A750-D131-A55F-1A25-7E012F2F7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D62E9-3C74-FC9E-178C-C396CE6D7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593B-7D96-CE33-EAD9-B6435D2D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D9977-4E10-AE7E-3A6D-1E3F8868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F7954-9029-B101-440B-491608AB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5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3582-B5A1-37A9-3213-14BECA08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AEE0-E438-EF25-8096-CBBE7BAEF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69AB8-F2BC-CC45-0935-2AF22732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943FF-7169-0338-AD45-174A601E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4C079-159B-DA77-081D-B53FDF07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3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D7AD-2A2D-93B4-AAAC-FDB1CD05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623F3-36B3-0B65-C3E3-53DF63340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38562-081E-81E7-91EB-3C099DD7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09D73-F7F8-01E2-8C31-78D498C8D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6DBF7-01AE-FA72-AD5E-600CBF72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12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D39A-6C7F-EC70-DCE1-8F7D9D05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F503-B014-9E08-ECDF-B7EBC5FE6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13F66-7F09-E576-A0F1-B13D1F5A1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2AB46-D701-F728-90F6-7AB9A32C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C543F-9623-F127-C599-8EBA14BF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9812A-F128-E803-2015-5F4A3446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20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DF42-4F85-D2B1-32D2-4DF066B6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E6299-C29C-673B-2462-4F2F0B9AF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32BF7-D849-A553-E1A3-E335F4048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A4CE35-B904-2043-1C14-1A2468933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91AA6-438A-44C8-A9CA-449232CA3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BB91B-3C6B-96EA-CC45-8C9B0592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A0E54C-3772-5F89-DC26-6862AA019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D80C49-4901-0EC3-0997-E141577A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67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6FE6-6BED-60FC-876C-2AECDA76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3A828C-C78D-2852-380A-1EDD1ECB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5793F-4828-2CB2-CC59-8C824688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0C56A-B200-4574-EBDC-3D9ED49F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861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04690-48E0-3F2F-4F9F-4EF8BF12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A1F80-32D2-25E7-73A0-9EE5FD2E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65238-9D42-806A-022D-BDCA6DD0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85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CB5D-71AA-BC63-C6EB-1A918B00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AC1DB-F7FA-A0DB-8797-33A4B68A8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55A32-32E7-26FD-8559-C10AEC35E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B674F-CC98-F3C5-8BF6-76DC7F3E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050DE-2AC3-D9D9-3D75-907B3AF4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D8C76-6FFC-A49E-926F-F1B2A8DB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915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960C-DC5B-2C15-042A-96109C385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813A78-2A64-4F08-CE65-26CEA5649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A40D8-0C9E-141D-86E3-E12CEE519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1D2D2-C4EC-4D52-0745-D0F65CADD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7C700-6D01-EA2D-6E81-7847E448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A384B-9579-53C8-FB96-3E7E08D3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530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A0C7-A793-88A1-AA67-9F81EB0C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94A4D-B870-E84D-C7C3-80BB73AE3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9E7EC-AC03-35C0-DB03-F73CAD91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49878-6E70-46DD-651B-0DB55E6A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96E58-9F24-3618-7356-CDF57050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2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F236A-0909-50BF-4BFE-E1BDD238E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6CF2D-D9A1-96F2-2C29-2D6D4C60F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A4AC1-98DB-4FA3-3B36-A6B06D3B5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921FA-4AD0-09BF-C6D4-4657974C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DCA22-3F0E-39DB-0E6A-C9F7AD2C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5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18900-9A7B-DCEF-DC04-333CB365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53FA1-BEC5-5790-E712-88B93C5F7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57DEC-60D8-7258-6AEA-F8402DC0F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C62F8-C596-4B42-A8A1-CAB521EF05F4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78AB2-9853-284A-2E1A-A087ED2FC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87516-8BB8-A528-4A68-E4F1C28A1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7363B-CB3D-4AAC-8497-3102739FBD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25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big-data-walmart-lovedata-gib-bassett/" TargetMode="External"/><Relationship Id="rId2" Type="http://schemas.openxmlformats.org/officeDocument/2006/relationships/hyperlink" Target="https://arxiv.org/pdf/2509.02890v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F228-B122-5239-7C20-CB7229DDC4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AIPM Assignment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1DE4B-95D3-1B63-E949-4B659B2F45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Akshaya </a:t>
            </a:r>
            <a:r>
              <a:rPr lang="en-US" dirty="0" err="1"/>
              <a:t>patra</a:t>
            </a:r>
            <a:r>
              <a:rPr lang="en-US" dirty="0"/>
              <a:t>/</a:t>
            </a:r>
            <a:r>
              <a:rPr lang="en-US" dirty="0" err="1"/>
              <a:t>Cornpcopia</a:t>
            </a:r>
            <a:r>
              <a:rPr lang="en-US" dirty="0"/>
              <a:t> </a:t>
            </a:r>
            <a:br>
              <a:rPr lang="en-US" dirty="0"/>
            </a:br>
            <a:r>
              <a:rPr lang="en-US" sz="2400" dirty="0"/>
              <a:t>Endless safe   food discovery. </a:t>
            </a:r>
            <a:br>
              <a:rPr lang="en-US" sz="2400" dirty="0"/>
            </a:br>
            <a:r>
              <a:rPr lang="en-US" sz="2400" dirty="0"/>
              <a:t>Transforming food anxiety into culinary abundance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681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C1793-FC70-E6A9-C9BB-0EA80A8C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51" y="707366"/>
            <a:ext cx="10515600" cy="5823280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Walmart is the world’s largest corporate retail establishment and second-largest company by global revenue. Walmart’s  revenue as of mid 2026 is 725.31 billon. Walmart sells everything  </a:t>
            </a:r>
            <a:r>
              <a:rPr lang="en-US" sz="1800" dirty="0">
                <a:solidFill>
                  <a:srgbClr val="000000"/>
                </a:solidFill>
                <a:sym typeface="Wingdings" panose="05000000000000000000" pitchFamily="2" charset="2"/>
              </a:rPr>
              <a:t>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n-US" sz="1800" dirty="0">
                <a:solidFill>
                  <a:srgbClr val="000000"/>
                </a:solidFill>
              </a:rPr>
              <a:t>Walmart is extremely well run company and does many things well for but for the purpose of this exercise lets talk  about the Evolution of </a:t>
            </a:r>
            <a:r>
              <a:rPr lang="en-US" sz="1800" dirty="0" err="1">
                <a:solidFill>
                  <a:srgbClr val="000000"/>
                </a:solidFill>
              </a:rPr>
              <a:t>Walmarts’s</a:t>
            </a:r>
            <a:r>
              <a:rPr lang="en-US" sz="1800" dirty="0">
                <a:solidFill>
                  <a:srgbClr val="000000"/>
                </a:solidFill>
              </a:rPr>
              <a:t>  AI and Data Science. </a:t>
            </a:r>
          </a:p>
          <a:p>
            <a:pPr lvl="1"/>
            <a:r>
              <a:rPr lang="en-US" sz="1400" dirty="0"/>
              <a:t>Walmart opened in 1969.</a:t>
            </a:r>
          </a:p>
          <a:p>
            <a:pPr lvl="1"/>
            <a:r>
              <a:rPr lang="en-US" sz="1400" dirty="0"/>
              <a:t>The Shift to Cloud: Early 2010s</a:t>
            </a:r>
          </a:p>
          <a:p>
            <a:pPr lvl="1"/>
            <a:r>
              <a:rPr lang="en-US" sz="1400" dirty="0"/>
              <a:t>Early AI &amp; Recommendation Engines: Walmart deployed its advanced, modern AI Content Decision Platform for hyper-personalized shopping recommendations on October 9, 2024. </a:t>
            </a:r>
          </a:p>
          <a:p>
            <a:pPr lvl="1"/>
            <a:r>
              <a:rPr lang="en-US" sz="1400" dirty="0"/>
              <a:t>Sparky (AI Assistant): Walmart officially launched its agentic conversational shopping companion, Sparky, on June 6, 2025. </a:t>
            </a:r>
          </a:p>
          <a:p>
            <a:pPr lvl="1"/>
            <a:r>
              <a:rPr lang="en-US" sz="1400" dirty="0"/>
              <a:t>OpenAI Partnership: Walmart announced an AI-first commerce integration with OpenAI on October 14, 2025.</a:t>
            </a:r>
            <a:endParaRPr lang="en-US" sz="1800" dirty="0">
              <a:solidFill>
                <a:srgbClr val="000000"/>
              </a:solidFill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</a:rPr>
              <a:t>Where do things go wrong, or get slow, expensive, or frustrating? </a:t>
            </a: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</a:rPr>
              <a:t>Food is major recurring expense and Walmart's recommendation system sucks, for that matter so does every recommendation engine I have tried at least when it comes to food recommendations.</a:t>
            </a: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</a:rPr>
              <a:t>I personally suffer with food allergies and I get really frustrated about their food recommendations, so far I have never gotten a good recommendation.</a:t>
            </a: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</a:rPr>
              <a:t>Please note U.S. total grocery universe has roughly 500,000 to 1,000,000+ distinct grocery SKUs/variants and Walmart’s daily assortment is  roughly 20,000 to 50,000 grocery items in a typical store-level view, and 100,000+ when you include broader online + regional assortment exposure so finding a product that is safe for someone with allergies to eat should be doable.</a:t>
            </a: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</a:rPr>
              <a:t>Per this </a:t>
            </a:r>
            <a:r>
              <a:rPr lang="en-US" sz="1800" b="0" i="0" u="none" strike="noStrike" baseline="0" dirty="0">
                <a:solidFill>
                  <a:srgbClr val="000000"/>
                </a:solidFill>
                <a:hlinkClick r:id="rId2"/>
              </a:rPr>
              <a:t>article</a:t>
            </a:r>
            <a:r>
              <a:rPr lang="en-US" sz="1800" b="0" i="0" u="none" strike="noStrike" baseline="0" dirty="0">
                <a:solidFill>
                  <a:srgbClr val="000000"/>
                </a:solidFill>
              </a:rPr>
              <a:t>, Walmart uses “</a:t>
            </a:r>
            <a:r>
              <a:rPr lang="en-US" sz="1400" dirty="0"/>
              <a:t>Item Cross-Pollination (XP) recommendation framework</a:t>
            </a:r>
            <a:r>
              <a:rPr lang="en-US" sz="1800" b="0" i="0" u="none" strike="noStrike" baseline="0" dirty="0">
                <a:solidFill>
                  <a:srgbClr val="000000"/>
                </a:solidFill>
              </a:rPr>
              <a:t> “, where food products are just another product but I do not agree with this categorization.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</a:rPr>
              <a:t>What information or data does the business collect along the way? 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+mj-lt"/>
              </a:rPr>
              <a:t>Per this </a:t>
            </a:r>
            <a:r>
              <a:rPr lang="en-US" sz="1800" dirty="0">
                <a:solidFill>
                  <a:srgbClr val="000000"/>
                </a:solidFill>
                <a:latin typeface="+mj-lt"/>
                <a:hlinkClick r:id="rId3"/>
              </a:rPr>
              <a:t>Linkedin</a:t>
            </a:r>
            <a:r>
              <a:rPr lang="en-US" sz="1800" dirty="0">
                <a:solidFill>
                  <a:srgbClr val="000000"/>
                </a:solidFill>
                <a:latin typeface="+mj-lt"/>
              </a:rPr>
              <a:t> article , </a:t>
            </a:r>
            <a:r>
              <a:rPr lang="en-US" sz="1800" i="0" dirty="0">
                <a:effectLst/>
                <a:latin typeface="+mj-lt"/>
              </a:rPr>
              <a:t>Walmart collects 2.5 petabytes of unstructured data from 1 million customers every hour.</a:t>
            </a:r>
            <a:endParaRPr lang="en-US" sz="1800" i="0" u="none" strike="noStrike" baseline="0" dirty="0">
              <a:solidFill>
                <a:srgbClr val="000000"/>
              </a:solidFill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67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2F2F70-B702-376C-D9BD-A3D974C7C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695" y="997488"/>
            <a:ext cx="4149306" cy="4709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22E515-E668-B41B-B795-AA02A124E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364" y="997488"/>
            <a:ext cx="4036976" cy="470950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913F6C-F04F-1958-E3B0-6EDA2DE24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678942"/>
              </p:ext>
            </p:extLst>
          </p:nvPr>
        </p:nvGraphicFramePr>
        <p:xfrm>
          <a:off x="9329948" y="1009290"/>
          <a:ext cx="1918898" cy="46977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59449">
                  <a:extLst>
                    <a:ext uri="{9D8B030D-6E8A-4147-A177-3AD203B41FA5}">
                      <a16:colId xmlns:a16="http://schemas.microsoft.com/office/drawing/2014/main" val="1253776270"/>
                    </a:ext>
                  </a:extLst>
                </a:gridCol>
                <a:gridCol w="959449">
                  <a:extLst>
                    <a:ext uri="{9D8B030D-6E8A-4147-A177-3AD203B41FA5}">
                      <a16:colId xmlns:a16="http://schemas.microsoft.com/office/drawing/2014/main" val="2226638902"/>
                    </a:ext>
                  </a:extLst>
                </a:gridCol>
              </a:tblGrid>
              <a:tr h="5872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Milk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Lactalbumin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3239339"/>
                  </a:ext>
                </a:extLst>
              </a:tr>
              <a:tr h="5872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Yogurt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Lactoglobulin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7879574"/>
                  </a:ext>
                </a:extLst>
              </a:tr>
              <a:tr h="5872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Butter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Ghee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02711706"/>
                  </a:ext>
                </a:extLst>
              </a:tr>
              <a:tr h="5872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Curd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Cream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02818360"/>
                  </a:ext>
                </a:extLst>
              </a:tr>
              <a:tr h="5872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Casein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Cheese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48445753"/>
                  </a:ext>
                </a:extLst>
              </a:tr>
              <a:tr h="5872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Caseinate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Milk solids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62524805"/>
                  </a:ext>
                </a:extLst>
              </a:tr>
              <a:tr h="5872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Whey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Nonfat milk solids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96734695"/>
                  </a:ext>
                </a:extLst>
              </a:tr>
              <a:tr h="5872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Lactose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Whey powder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0449238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8869692-4D5B-1E57-5E46-DA3ABEBBAEB7}"/>
              </a:ext>
            </a:extLst>
          </p:cNvPr>
          <p:cNvSpPr txBox="1"/>
          <p:nvPr/>
        </p:nvSpPr>
        <p:spPr>
          <a:xfrm>
            <a:off x="9329948" y="362959"/>
            <a:ext cx="1918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Derivatives of Milk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B0227-4124-9C91-DF82-7BA3CA7B4CC3}"/>
              </a:ext>
            </a:extLst>
          </p:cNvPr>
          <p:cNvSpPr txBox="1"/>
          <p:nvPr/>
        </p:nvSpPr>
        <p:spPr>
          <a:xfrm>
            <a:off x="478860" y="362959"/>
            <a:ext cx="4036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Food Allergy Epidemic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9EB1E-F49E-598E-9897-5CC12A852EA8}"/>
              </a:ext>
            </a:extLst>
          </p:cNvPr>
          <p:cNvSpPr txBox="1"/>
          <p:nvPr/>
        </p:nvSpPr>
        <p:spPr>
          <a:xfrm>
            <a:off x="478860" y="5934670"/>
            <a:ext cx="11373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 loses over 25B dollars every year due to food allergies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According to consumer insights by Food Allergy Research &amp; Education (FARE), the buying power of food-allergic consumers represents a $19 billion market opportunity.</a:t>
            </a:r>
          </a:p>
        </p:txBody>
      </p:sp>
    </p:spTree>
    <p:extLst>
      <p:ext uri="{BB962C8B-B14F-4D97-AF65-F5344CB8AC3E}">
        <p14:creationId xmlns:p14="http://schemas.microsoft.com/office/powerpoint/2010/main" val="242232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8F87DB-8D5E-DFDD-55A7-23197F3AA7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484499"/>
              </p:ext>
            </p:extLst>
          </p:nvPr>
        </p:nvGraphicFramePr>
        <p:xfrm>
          <a:off x="405442" y="564515"/>
          <a:ext cx="11533516" cy="402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0356">
                  <a:extLst>
                    <a:ext uri="{9D8B030D-6E8A-4147-A177-3AD203B41FA5}">
                      <a16:colId xmlns:a16="http://schemas.microsoft.com/office/drawing/2014/main" val="1277798917"/>
                    </a:ext>
                  </a:extLst>
                </a:gridCol>
                <a:gridCol w="1661282">
                  <a:extLst>
                    <a:ext uri="{9D8B030D-6E8A-4147-A177-3AD203B41FA5}">
                      <a16:colId xmlns:a16="http://schemas.microsoft.com/office/drawing/2014/main" val="2562552378"/>
                    </a:ext>
                  </a:extLst>
                </a:gridCol>
                <a:gridCol w="1927969">
                  <a:extLst>
                    <a:ext uri="{9D8B030D-6E8A-4147-A177-3AD203B41FA5}">
                      <a16:colId xmlns:a16="http://schemas.microsoft.com/office/drawing/2014/main" val="1383201715"/>
                    </a:ext>
                  </a:extLst>
                </a:gridCol>
                <a:gridCol w="2713875">
                  <a:extLst>
                    <a:ext uri="{9D8B030D-6E8A-4147-A177-3AD203B41FA5}">
                      <a16:colId xmlns:a16="http://schemas.microsoft.com/office/drawing/2014/main" val="3674983109"/>
                    </a:ext>
                  </a:extLst>
                </a:gridCol>
                <a:gridCol w="1824346">
                  <a:extLst>
                    <a:ext uri="{9D8B030D-6E8A-4147-A177-3AD203B41FA5}">
                      <a16:colId xmlns:a16="http://schemas.microsoft.com/office/drawing/2014/main" val="3185096135"/>
                    </a:ext>
                  </a:extLst>
                </a:gridCol>
                <a:gridCol w="1245688">
                  <a:extLst>
                    <a:ext uri="{9D8B030D-6E8A-4147-A177-3AD203B41FA5}">
                      <a16:colId xmlns:a16="http://schemas.microsoft.com/office/drawing/2014/main" val="358951227"/>
                    </a:ext>
                  </a:extLst>
                </a:gridCol>
              </a:tblGrid>
              <a:tr h="635635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it solves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improves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Metrics it will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750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Customer allergy risk prediction: Predict the probability that a customer is sensitive or allergic to each of the top 9 allergens based on purchase behavior and ingredient patterns.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Tells us what a certain customer’s    buying pattern is when it comes to foods with allergens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Prediction AI -Multi model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Several months of a users purchases , the users preferences(optional)  and USDA or stores product DB with ingredients, labels, nutrition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a customers sensitivity to top 9 allergens.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Exact Match Ratio, Hamming Loss and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68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74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8F87DB-8D5E-DFDD-55A7-23197F3AA7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4375848"/>
              </p:ext>
            </p:extLst>
          </p:nvPr>
        </p:nvGraphicFramePr>
        <p:xfrm>
          <a:off x="368330" y="219459"/>
          <a:ext cx="11823670" cy="52928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43197">
                  <a:extLst>
                    <a:ext uri="{9D8B030D-6E8A-4147-A177-3AD203B41FA5}">
                      <a16:colId xmlns:a16="http://schemas.microsoft.com/office/drawing/2014/main" val="1277798917"/>
                    </a:ext>
                  </a:extLst>
                </a:gridCol>
                <a:gridCol w="1698026">
                  <a:extLst>
                    <a:ext uri="{9D8B030D-6E8A-4147-A177-3AD203B41FA5}">
                      <a16:colId xmlns:a16="http://schemas.microsoft.com/office/drawing/2014/main" val="2562552378"/>
                    </a:ext>
                  </a:extLst>
                </a:gridCol>
                <a:gridCol w="1970611">
                  <a:extLst>
                    <a:ext uri="{9D8B030D-6E8A-4147-A177-3AD203B41FA5}">
                      <a16:colId xmlns:a16="http://schemas.microsoft.com/office/drawing/2014/main" val="1383201715"/>
                    </a:ext>
                  </a:extLst>
                </a:gridCol>
                <a:gridCol w="2773900">
                  <a:extLst>
                    <a:ext uri="{9D8B030D-6E8A-4147-A177-3AD203B41FA5}">
                      <a16:colId xmlns:a16="http://schemas.microsoft.com/office/drawing/2014/main" val="3674983109"/>
                    </a:ext>
                  </a:extLst>
                </a:gridCol>
                <a:gridCol w="1864696">
                  <a:extLst>
                    <a:ext uri="{9D8B030D-6E8A-4147-A177-3AD203B41FA5}">
                      <a16:colId xmlns:a16="http://schemas.microsoft.com/office/drawing/2014/main" val="3185096135"/>
                    </a:ext>
                  </a:extLst>
                </a:gridCol>
                <a:gridCol w="1273240">
                  <a:extLst>
                    <a:ext uri="{9D8B030D-6E8A-4147-A177-3AD203B41FA5}">
                      <a16:colId xmlns:a16="http://schemas.microsoft.com/office/drawing/2014/main" val="358951227"/>
                    </a:ext>
                  </a:extLst>
                </a:gridCol>
              </a:tblGrid>
              <a:tr h="998645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it solves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improves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Metrics it will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750922"/>
                  </a:ext>
                </a:extLst>
              </a:tr>
              <a:tr h="4294175">
                <a:tc>
                  <a:txBody>
                    <a:bodyPr/>
                    <a:lstStyle/>
                    <a:p>
                      <a:r>
                        <a:rPr lang="en-US" sz="1800" dirty="0"/>
                        <a:t>Build a rule-based product labeling system that scans each food product’s ingredient list and automatically assigns binary allergen tags for the top 9 allergens, indicating whether each product contains or does not contain each allergen.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Tag or label a food product with binary tags for top 9 allergens. Clear data mapping between food and allergen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AI or ML, pure programming and database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USDA or stores Nutritional data base with ingredients, labels, nutrition.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top 9 allergens in food products clearly. Please note a allergen can have multiple names as mentioned in slide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77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99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8F87DB-8D5E-DFDD-55A7-23197F3AA7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225537"/>
              </p:ext>
            </p:extLst>
          </p:nvPr>
        </p:nvGraphicFramePr>
        <p:xfrm>
          <a:off x="371475" y="262591"/>
          <a:ext cx="11714133" cy="423460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22416">
                  <a:extLst>
                    <a:ext uri="{9D8B030D-6E8A-4147-A177-3AD203B41FA5}">
                      <a16:colId xmlns:a16="http://schemas.microsoft.com/office/drawing/2014/main" val="1277798917"/>
                    </a:ext>
                  </a:extLst>
                </a:gridCol>
                <a:gridCol w="2193769">
                  <a:extLst>
                    <a:ext uri="{9D8B030D-6E8A-4147-A177-3AD203B41FA5}">
                      <a16:colId xmlns:a16="http://schemas.microsoft.com/office/drawing/2014/main" val="2562552378"/>
                    </a:ext>
                  </a:extLst>
                </a:gridCol>
                <a:gridCol w="1440881">
                  <a:extLst>
                    <a:ext uri="{9D8B030D-6E8A-4147-A177-3AD203B41FA5}">
                      <a16:colId xmlns:a16="http://schemas.microsoft.com/office/drawing/2014/main" val="1383201715"/>
                    </a:ext>
                  </a:extLst>
                </a:gridCol>
                <a:gridCol w="2748202">
                  <a:extLst>
                    <a:ext uri="{9D8B030D-6E8A-4147-A177-3AD203B41FA5}">
                      <a16:colId xmlns:a16="http://schemas.microsoft.com/office/drawing/2014/main" val="3674983109"/>
                    </a:ext>
                  </a:extLst>
                </a:gridCol>
                <a:gridCol w="1847421">
                  <a:extLst>
                    <a:ext uri="{9D8B030D-6E8A-4147-A177-3AD203B41FA5}">
                      <a16:colId xmlns:a16="http://schemas.microsoft.com/office/drawing/2014/main" val="3185096135"/>
                    </a:ext>
                  </a:extLst>
                </a:gridCol>
                <a:gridCol w="1261444">
                  <a:extLst>
                    <a:ext uri="{9D8B030D-6E8A-4147-A177-3AD203B41FA5}">
                      <a16:colId xmlns:a16="http://schemas.microsoft.com/office/drawing/2014/main" val="358951227"/>
                    </a:ext>
                  </a:extLst>
                </a:gridCol>
              </a:tblGrid>
              <a:tr h="721784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it solves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it improves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Metrics it will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750922"/>
                  </a:ext>
                </a:extLst>
              </a:tr>
              <a:tr h="3320207">
                <a:tc>
                  <a:txBody>
                    <a:bodyPr/>
                    <a:lstStyle/>
                    <a:p>
                      <a:r>
                        <a:rPr lang="en-US" b="1" dirty="0"/>
                        <a:t>Constraint-Aware Recommendation System:</a:t>
                      </a:r>
                      <a:r>
                        <a:rPr lang="en-US" dirty="0"/>
                        <a:t> The third component is a ranking layer that utilizes the outputs from Steps 1 and 2, alongside promotional, novelty , new and old food products.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layer dynamically adjusts product ranking to elevate items that are on sale, newly introduced. Brings customers focus to products she will be interested in.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Recommendation AI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sales, new products and output from Step1 and Step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Quality of a food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Hit Rate, Calibration to user interests, Latency ,  Revenue per user and Average order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6571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4F1A4F9-4FE1-576C-3C82-5E009F3DB845}"/>
              </a:ext>
            </a:extLst>
          </p:cNvPr>
          <p:cNvSpPr txBox="1"/>
          <p:nvPr/>
        </p:nvSpPr>
        <p:spPr>
          <a:xfrm>
            <a:off x="371476" y="4564084"/>
            <a:ext cx="117141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Step1 and Step 2 can be done in parallel, but if I have to pick one, then Step1, because it needs to be done iteratively –in multiple steps. Multiple data sets need to be mapped and it is not a simple task. This project can be extended to other types of labels like vegan, Gluten-</a:t>
            </a:r>
            <a:r>
              <a:rPr lang="en-US" dirty="0" err="1"/>
              <a:t>free,Low</a:t>
            </a:r>
            <a:r>
              <a:rPr lang="en-US" dirty="0"/>
              <a:t> sodium, Low fat / fat free / reduced fat ,Low calorie / calorie free  </a:t>
            </a:r>
            <a:r>
              <a:rPr lang="en-US" dirty="0" err="1"/>
              <a:t>etc</a:t>
            </a:r>
            <a:r>
              <a:rPr lang="en-US" dirty="0"/>
              <a:t> etc.</a:t>
            </a:r>
          </a:p>
          <a:p>
            <a:r>
              <a:rPr lang="en-US" dirty="0"/>
              <a:t>This same logic can be extended to other conditions like pancreatitis or ulcerative colitis who may need low-fat or low-fiber foods, depending on symptoms. People with diabetes are often advised to choose higher-fiber, protein-rich foods. Nutrition facts labels and ingredient lists, analyzed with AI and ML, can help generate better food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4039319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DF5F-5C0D-CD6F-6AB4-E0A32750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838"/>
            <a:ext cx="10515600" cy="833947"/>
          </a:xfrm>
        </p:spPr>
        <p:txBody>
          <a:bodyPr/>
          <a:lstStyle/>
          <a:p>
            <a:r>
              <a:rPr lang="en-US" dirty="0"/>
              <a:t>Step 1-Input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0250E-727A-6079-DAA2-60899BFA3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5774"/>
            <a:ext cx="10515600" cy="5710686"/>
          </a:xfrm>
        </p:spPr>
        <p:txBody>
          <a:bodyPr>
            <a:normAutofit/>
          </a:bodyPr>
          <a:lstStyle/>
          <a:p>
            <a:r>
              <a:rPr lang="en-US" sz="2000" dirty="0"/>
              <a:t>Input :Users 6 months food purchases, USDA/Store Nutritional DB and User account preferences(if available)</a:t>
            </a:r>
          </a:p>
          <a:p>
            <a:r>
              <a:rPr lang="en-US" sz="2000" dirty="0"/>
              <a:t>Output: sample dummy data</a:t>
            </a: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361D3D-0BAF-FDA2-5577-3EC840149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4263"/>
              </p:ext>
            </p:extLst>
          </p:nvPr>
        </p:nvGraphicFramePr>
        <p:xfrm>
          <a:off x="838199" y="2000507"/>
          <a:ext cx="11161140" cy="445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114">
                  <a:extLst>
                    <a:ext uri="{9D8B030D-6E8A-4147-A177-3AD203B41FA5}">
                      <a16:colId xmlns:a16="http://schemas.microsoft.com/office/drawing/2014/main" val="40283264"/>
                    </a:ext>
                  </a:extLst>
                </a:gridCol>
                <a:gridCol w="1116114">
                  <a:extLst>
                    <a:ext uri="{9D8B030D-6E8A-4147-A177-3AD203B41FA5}">
                      <a16:colId xmlns:a16="http://schemas.microsoft.com/office/drawing/2014/main" val="1437020824"/>
                    </a:ext>
                  </a:extLst>
                </a:gridCol>
                <a:gridCol w="1116114">
                  <a:extLst>
                    <a:ext uri="{9D8B030D-6E8A-4147-A177-3AD203B41FA5}">
                      <a16:colId xmlns:a16="http://schemas.microsoft.com/office/drawing/2014/main" val="4023020263"/>
                    </a:ext>
                  </a:extLst>
                </a:gridCol>
                <a:gridCol w="1116114">
                  <a:extLst>
                    <a:ext uri="{9D8B030D-6E8A-4147-A177-3AD203B41FA5}">
                      <a16:colId xmlns:a16="http://schemas.microsoft.com/office/drawing/2014/main" val="2975025585"/>
                    </a:ext>
                  </a:extLst>
                </a:gridCol>
                <a:gridCol w="1116114">
                  <a:extLst>
                    <a:ext uri="{9D8B030D-6E8A-4147-A177-3AD203B41FA5}">
                      <a16:colId xmlns:a16="http://schemas.microsoft.com/office/drawing/2014/main" val="152771352"/>
                    </a:ext>
                  </a:extLst>
                </a:gridCol>
                <a:gridCol w="1116114">
                  <a:extLst>
                    <a:ext uri="{9D8B030D-6E8A-4147-A177-3AD203B41FA5}">
                      <a16:colId xmlns:a16="http://schemas.microsoft.com/office/drawing/2014/main" val="3764789807"/>
                    </a:ext>
                  </a:extLst>
                </a:gridCol>
                <a:gridCol w="1116114">
                  <a:extLst>
                    <a:ext uri="{9D8B030D-6E8A-4147-A177-3AD203B41FA5}">
                      <a16:colId xmlns:a16="http://schemas.microsoft.com/office/drawing/2014/main" val="3669936389"/>
                    </a:ext>
                  </a:extLst>
                </a:gridCol>
                <a:gridCol w="1116114">
                  <a:extLst>
                    <a:ext uri="{9D8B030D-6E8A-4147-A177-3AD203B41FA5}">
                      <a16:colId xmlns:a16="http://schemas.microsoft.com/office/drawing/2014/main" val="3656520904"/>
                    </a:ext>
                  </a:extLst>
                </a:gridCol>
                <a:gridCol w="1116114">
                  <a:extLst>
                    <a:ext uri="{9D8B030D-6E8A-4147-A177-3AD203B41FA5}">
                      <a16:colId xmlns:a16="http://schemas.microsoft.com/office/drawing/2014/main" val="578709742"/>
                    </a:ext>
                  </a:extLst>
                </a:gridCol>
                <a:gridCol w="1116114">
                  <a:extLst>
                    <a:ext uri="{9D8B030D-6E8A-4147-A177-3AD203B41FA5}">
                      <a16:colId xmlns:a16="http://schemas.microsoft.com/office/drawing/2014/main" val="472616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UserID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 Milk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 Eggs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 Fish</a:t>
                      </a:r>
                      <a:endParaRPr lang="en-US" sz="1400" b="0" i="0" u="none" strike="noStrike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 Shellfish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 Tree nuts</a:t>
                      </a:r>
                      <a:endParaRPr lang="en-US" sz="1400" b="0" i="0" u="none" strike="noStrike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 Peanuts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 Wheat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 Soybeans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 Sesame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extLst>
                  <a:ext uri="{0D108BD9-81ED-4DB2-BD59-A6C34878D82A}">
                    <a16:rowId xmlns:a16="http://schemas.microsoft.com/office/drawing/2014/main" val="128660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0.96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0.02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0.02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0.03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0.03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41983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395544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0.02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1400664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223221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3614876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3417199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High  Milk sensitivity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Eggs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Fish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Shellfish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Tree nuts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Peanuts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Wheat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Soybeans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Sesame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166010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Milk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Eggs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Fish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Shellfish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High  Tree nuts sensitivity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High  Peanuts sensitivity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Wheat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Soybeans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Sesame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3143198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Milk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Eggs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Fish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Shellfish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Tree nuts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Peanuts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Wheat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High  Soybeans sensitivity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Sesame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103479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Milk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Eggs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Fish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Shellfish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Tree nuts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Peanuts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High  Wheat sensitivity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Soybeans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Sesame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1922214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User-5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Medium  Milk sensitivity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Eggs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Fish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Shellfish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Tree nuts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Peanuts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Wheat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Low  Soybeans sensitivity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Low  Sesame sensitivity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138162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706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DF5F-5C0D-CD6F-6AB4-E0A32750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092"/>
            <a:ext cx="10515600" cy="601034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2:Input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0250E-727A-6079-DAA2-60899BFA3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9125"/>
            <a:ext cx="11100758" cy="5779697"/>
          </a:xfrm>
        </p:spPr>
        <p:txBody>
          <a:bodyPr>
            <a:normAutofit/>
          </a:bodyPr>
          <a:lstStyle/>
          <a:p>
            <a:r>
              <a:rPr lang="en-US" sz="2000" dirty="0"/>
              <a:t>Input: USDA Nutritional DB or respective store DB</a:t>
            </a:r>
          </a:p>
          <a:p>
            <a:r>
              <a:rPr lang="en-US" sz="2000" dirty="0"/>
              <a:t>Output:</a:t>
            </a:r>
            <a:br>
              <a:rPr lang="en-US" sz="2000" dirty="0"/>
            </a:br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33E366-EA88-9F3F-EF63-9A6141EE8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651712"/>
              </p:ext>
            </p:extLst>
          </p:nvPr>
        </p:nvGraphicFramePr>
        <p:xfrm>
          <a:off x="1160731" y="1546943"/>
          <a:ext cx="9656790" cy="5302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679">
                  <a:extLst>
                    <a:ext uri="{9D8B030D-6E8A-4147-A177-3AD203B41FA5}">
                      <a16:colId xmlns:a16="http://schemas.microsoft.com/office/drawing/2014/main" val="27687556"/>
                    </a:ext>
                  </a:extLst>
                </a:gridCol>
                <a:gridCol w="965679">
                  <a:extLst>
                    <a:ext uri="{9D8B030D-6E8A-4147-A177-3AD203B41FA5}">
                      <a16:colId xmlns:a16="http://schemas.microsoft.com/office/drawing/2014/main" val="2434581208"/>
                    </a:ext>
                  </a:extLst>
                </a:gridCol>
                <a:gridCol w="965679">
                  <a:extLst>
                    <a:ext uri="{9D8B030D-6E8A-4147-A177-3AD203B41FA5}">
                      <a16:colId xmlns:a16="http://schemas.microsoft.com/office/drawing/2014/main" val="2007946929"/>
                    </a:ext>
                  </a:extLst>
                </a:gridCol>
                <a:gridCol w="965679">
                  <a:extLst>
                    <a:ext uri="{9D8B030D-6E8A-4147-A177-3AD203B41FA5}">
                      <a16:colId xmlns:a16="http://schemas.microsoft.com/office/drawing/2014/main" val="4171406009"/>
                    </a:ext>
                  </a:extLst>
                </a:gridCol>
                <a:gridCol w="965679">
                  <a:extLst>
                    <a:ext uri="{9D8B030D-6E8A-4147-A177-3AD203B41FA5}">
                      <a16:colId xmlns:a16="http://schemas.microsoft.com/office/drawing/2014/main" val="3519800001"/>
                    </a:ext>
                  </a:extLst>
                </a:gridCol>
                <a:gridCol w="965679">
                  <a:extLst>
                    <a:ext uri="{9D8B030D-6E8A-4147-A177-3AD203B41FA5}">
                      <a16:colId xmlns:a16="http://schemas.microsoft.com/office/drawing/2014/main" val="2430028783"/>
                    </a:ext>
                  </a:extLst>
                </a:gridCol>
                <a:gridCol w="965679">
                  <a:extLst>
                    <a:ext uri="{9D8B030D-6E8A-4147-A177-3AD203B41FA5}">
                      <a16:colId xmlns:a16="http://schemas.microsoft.com/office/drawing/2014/main" val="3523497813"/>
                    </a:ext>
                  </a:extLst>
                </a:gridCol>
                <a:gridCol w="965679">
                  <a:extLst>
                    <a:ext uri="{9D8B030D-6E8A-4147-A177-3AD203B41FA5}">
                      <a16:colId xmlns:a16="http://schemas.microsoft.com/office/drawing/2014/main" val="3076629685"/>
                    </a:ext>
                  </a:extLst>
                </a:gridCol>
                <a:gridCol w="965679">
                  <a:extLst>
                    <a:ext uri="{9D8B030D-6E8A-4147-A177-3AD203B41FA5}">
                      <a16:colId xmlns:a16="http://schemas.microsoft.com/office/drawing/2014/main" val="672447983"/>
                    </a:ext>
                  </a:extLst>
                </a:gridCol>
                <a:gridCol w="965679">
                  <a:extLst>
                    <a:ext uri="{9D8B030D-6E8A-4147-A177-3AD203B41FA5}">
                      <a16:colId xmlns:a16="http://schemas.microsoft.com/office/drawing/2014/main" val="2749117718"/>
                    </a:ext>
                  </a:extLst>
                </a:gridCol>
              </a:tblGrid>
              <a:tr h="1974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Product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Milk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Eggs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Fish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Shellfish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Tree nuts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Peanuts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Wheat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Soybeans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Sesame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extLst>
                  <a:ext uri="{0D108BD9-81ED-4DB2-BD59-A6C34878D82A}">
                    <a16:rowId xmlns:a16="http://schemas.microsoft.com/office/drawing/2014/main" val="371313502"/>
                  </a:ext>
                </a:extLst>
              </a:tr>
              <a:tr h="1974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Oreo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extLst>
                  <a:ext uri="{0D108BD9-81ED-4DB2-BD59-A6C34878D82A}">
                    <a16:rowId xmlns:a16="http://schemas.microsoft.com/office/drawing/2014/main" val="1985692867"/>
                  </a:ext>
                </a:extLst>
              </a:tr>
              <a:tr h="1974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Biscoff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extLst>
                  <a:ext uri="{0D108BD9-81ED-4DB2-BD59-A6C34878D82A}">
                    <a16:rowId xmlns:a16="http://schemas.microsoft.com/office/drawing/2014/main" val="951205988"/>
                  </a:ext>
                </a:extLst>
              </a:tr>
              <a:tr h="1974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Shortbread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extLst>
                  <a:ext uri="{0D108BD9-81ED-4DB2-BD59-A6C34878D82A}">
                    <a16:rowId xmlns:a16="http://schemas.microsoft.com/office/drawing/2014/main" val="4221633487"/>
                  </a:ext>
                </a:extLst>
              </a:tr>
              <a:tr h="3429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Almond croissant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extLst>
                  <a:ext uri="{0D108BD9-81ED-4DB2-BD59-A6C34878D82A}">
                    <a16:rowId xmlns:a16="http://schemas.microsoft.com/office/drawing/2014/main" val="2413736574"/>
                  </a:ext>
                </a:extLst>
              </a:tr>
              <a:tr h="1974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Oranges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extLst>
                  <a:ext uri="{0D108BD9-81ED-4DB2-BD59-A6C34878D82A}">
                    <a16:rowId xmlns:a16="http://schemas.microsoft.com/office/drawing/2014/main" val="360581615"/>
                  </a:ext>
                </a:extLst>
              </a:tr>
              <a:tr h="6812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Talenti</a:t>
                      </a:r>
                      <a:r>
                        <a:rPr lang="en-US" sz="1400" u="none" strike="noStrike" dirty="0">
                          <a:effectLst/>
                        </a:rPr>
                        <a:t> Dairy free Coffee ice cream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extLst>
                  <a:ext uri="{0D108BD9-81ED-4DB2-BD59-A6C34878D82A}">
                    <a16:rowId xmlns:a16="http://schemas.microsoft.com/office/drawing/2014/main" val="3071526004"/>
                  </a:ext>
                </a:extLst>
              </a:tr>
              <a:tr h="197454"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extLst>
                  <a:ext uri="{0D108BD9-81ED-4DB2-BD59-A6C34878D82A}">
                    <a16:rowId xmlns:a16="http://schemas.microsoft.com/office/drawing/2014/main" val="1836640400"/>
                  </a:ext>
                </a:extLst>
              </a:tr>
              <a:tr h="4396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Oreo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Milk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Eggs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Fish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Shellfish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Tree nuts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Peanuts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Contains  Wheat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Contains  Soybeans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Sesame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448549175"/>
                  </a:ext>
                </a:extLst>
              </a:tr>
              <a:tr h="4396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Biscoff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Milk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Eggs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Fish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Shellfish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Tree nuts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Peanuts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Contains  Wheat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Contains  Soybeans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Sesame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1093380078"/>
                  </a:ext>
                </a:extLst>
              </a:tr>
              <a:tr h="4396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Shortbread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Contains  Milk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Eggs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Fish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Shellfish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Tree nuts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Peanuts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Contains  Wheat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Contains  Soybeans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Sesame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604376487"/>
                  </a:ext>
                </a:extLst>
              </a:tr>
              <a:tr h="3429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Almond croissant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Contains  Milk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Contains  Eggs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Fish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Shellfish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Contains  Tree nuts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Peanuts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Contains  Wheat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Contains  Soybeans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Sesame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3743634567"/>
                  </a:ext>
                </a:extLst>
              </a:tr>
              <a:tr h="4396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Oranges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Milk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Eggs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Fish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Shellfish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Tree nuts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Doesnotcontain  Peanuts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Wheat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Soybeans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200" u="none" strike="noStrike" dirty="0">
                          <a:effectLst/>
                        </a:rPr>
                        <a:t>  Sesame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3089629909"/>
                  </a:ext>
                </a:extLst>
              </a:tr>
              <a:tr h="6812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 err="1">
                          <a:effectLst/>
                        </a:rPr>
                        <a:t>Talenti</a:t>
                      </a:r>
                      <a:r>
                        <a:rPr lang="en-US" sz="1400" u="none" strike="noStrike" dirty="0">
                          <a:effectLst/>
                        </a:rPr>
                        <a:t> Dairy free Coffee ice cream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Doesnotcontain  Milk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Contains  Eggs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Doesnotcontain  Fish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Doesnotcontain  Shellfish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Contains  Tree nuts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400" u="none" strike="noStrike" dirty="0">
                          <a:effectLst/>
                        </a:rPr>
                        <a:t>  Peanuts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400" u="none" strike="noStrike" dirty="0">
                          <a:effectLst/>
                        </a:rPr>
                        <a:t>  Wheat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Contains  Soybeans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err="1">
                          <a:effectLst/>
                        </a:rPr>
                        <a:t>Doesnotcontain</a:t>
                      </a:r>
                      <a:r>
                        <a:rPr lang="en-US" sz="1400" u="none" strike="noStrike" dirty="0">
                          <a:effectLst/>
                        </a:rPr>
                        <a:t>  Sesame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24" marR="5924" marT="5924" marB="0" anchor="b"/>
                </a:tc>
                <a:extLst>
                  <a:ext uri="{0D108BD9-81ED-4DB2-BD59-A6C34878D82A}">
                    <a16:rowId xmlns:a16="http://schemas.microsoft.com/office/drawing/2014/main" val="1743557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64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DF5F-5C0D-CD6F-6AB4-E0A32750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8724"/>
            <a:ext cx="10515600" cy="1325563"/>
          </a:xfrm>
        </p:spPr>
        <p:txBody>
          <a:bodyPr/>
          <a:lstStyle/>
          <a:p>
            <a:r>
              <a:rPr lang="en-US" dirty="0"/>
              <a:t>Step 3: 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0250E-727A-6079-DAA2-60899BFA3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313"/>
            <a:ext cx="10515600" cy="5029650"/>
          </a:xfrm>
        </p:spPr>
        <p:txBody>
          <a:bodyPr>
            <a:normAutofit/>
          </a:bodyPr>
          <a:lstStyle/>
          <a:p>
            <a:r>
              <a:rPr lang="en-US" sz="1400" b="1" dirty="0"/>
              <a:t>Constraint-Aware Recommendation System:</a:t>
            </a:r>
            <a:r>
              <a:rPr lang="en-US" sz="1400" dirty="0"/>
              <a:t> The third component is a ranking layer that utilizes the outputs from Steps 1 and 2, alongside promotional, novelty, and discovery signals. This layer dynamically adjusts product ranking to elevate items that are on sale, newly introduced, or otherwise </a:t>
            </a:r>
            <a:r>
              <a:rPr lang="en-US" sz="1400" b="1" dirty="0"/>
              <a:t>designated for high strategic visibility</a:t>
            </a:r>
            <a:r>
              <a:rPr lang="en-US" sz="1400" dirty="0"/>
              <a:t>.</a:t>
            </a:r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3D5AD5-E6A4-30A3-8E80-7D90571A5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6182"/>
              </p:ext>
            </p:extLst>
          </p:nvPr>
        </p:nvGraphicFramePr>
        <p:xfrm>
          <a:off x="1117601" y="2092318"/>
          <a:ext cx="3773577" cy="16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886">
                  <a:extLst>
                    <a:ext uri="{9D8B030D-6E8A-4147-A177-3AD203B41FA5}">
                      <a16:colId xmlns:a16="http://schemas.microsoft.com/office/drawing/2014/main" val="2831915863"/>
                    </a:ext>
                  </a:extLst>
                </a:gridCol>
                <a:gridCol w="1923691">
                  <a:extLst>
                    <a:ext uri="{9D8B030D-6E8A-4147-A177-3AD203B41FA5}">
                      <a16:colId xmlns:a16="http://schemas.microsoft.com/office/drawing/2014/main" val="1605904514"/>
                    </a:ext>
                  </a:extLst>
                </a:gridCol>
              </a:tblGrid>
              <a:tr h="4573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Sales online or </a:t>
                      </a:r>
                      <a:r>
                        <a:rPr lang="en-US" sz="1400" u="none" strike="noStrike" dirty="0" err="1">
                          <a:effectLst/>
                        </a:rPr>
                        <a:t>InStore</a:t>
                      </a:r>
                      <a:r>
                        <a:rPr lang="en-US" sz="1400" u="none" strike="noStrike" dirty="0">
                          <a:effectLst/>
                        </a:rPr>
                        <a:t> 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% of Discount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1285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Almond </a:t>
                      </a:r>
                      <a:r>
                        <a:rPr lang="en-US" sz="1400" u="none" strike="noStrike" dirty="0" err="1">
                          <a:effectLst/>
                        </a:rPr>
                        <a:t>crossiant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53488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Oranges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697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 err="1">
                          <a:effectLst/>
                        </a:rPr>
                        <a:t>Talenti</a:t>
                      </a:r>
                      <a:r>
                        <a:rPr lang="en-US" sz="1400" u="none" strike="noStrike" dirty="0">
                          <a:effectLst/>
                        </a:rPr>
                        <a:t> Dairy free Coffee ice cream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50377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2ADDDD-294F-B567-958E-BC77B6071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99049"/>
              </p:ext>
            </p:extLst>
          </p:nvPr>
        </p:nvGraphicFramePr>
        <p:xfrm>
          <a:off x="1117601" y="3807030"/>
          <a:ext cx="8127999" cy="235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071">
                  <a:extLst>
                    <a:ext uri="{9D8B030D-6E8A-4147-A177-3AD203B41FA5}">
                      <a16:colId xmlns:a16="http://schemas.microsoft.com/office/drawing/2014/main" val="335798735"/>
                    </a:ext>
                  </a:extLst>
                </a:gridCol>
                <a:gridCol w="3965595">
                  <a:extLst>
                    <a:ext uri="{9D8B030D-6E8A-4147-A177-3AD203B41FA5}">
                      <a16:colId xmlns:a16="http://schemas.microsoft.com/office/drawing/2014/main" val="33572998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61688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User ID shopping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Sensitivities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Recommendations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5113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User-1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High  Milk sensitivity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Talenti</a:t>
                      </a:r>
                      <a:r>
                        <a:rPr lang="en-US" sz="1400" b="1" u="none" strike="noStrike" dirty="0">
                          <a:effectLst/>
                        </a:rPr>
                        <a:t> Dairy free Coffee ice cream and Oranges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616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User-2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High  Tree nuts sensitivity, High  Peanuts sensitivity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Oranges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6845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User-3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High  Soybeans sensitivity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Oranges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4134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User-4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High  Wheat sensitivity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Talenti</a:t>
                      </a:r>
                      <a:r>
                        <a:rPr lang="en-US" sz="1400" b="1" u="none" strike="noStrike" dirty="0">
                          <a:effectLst/>
                        </a:rPr>
                        <a:t> Dairy free Coffee ice cream and Oranges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48469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User-5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29292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Almond croissant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7430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645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3453</TotalTime>
  <Words>1519</Words>
  <Application>Microsoft Office PowerPoint</Application>
  <PresentationFormat>Widescreen</PresentationFormat>
  <Paragraphs>358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Roboto</vt:lpstr>
      <vt:lpstr>Wingdings</vt:lpstr>
      <vt:lpstr>Office Theme</vt:lpstr>
      <vt:lpstr>AIPM Assignment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1-Input and output</vt:lpstr>
      <vt:lpstr>Step 2:Input Output</vt:lpstr>
      <vt:lpstr>Step 3: Input and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 jamuna</dc:creator>
  <cp:lastModifiedBy>uma jamuna</cp:lastModifiedBy>
  <cp:revision>5</cp:revision>
  <dcterms:created xsi:type="dcterms:W3CDTF">2026-06-09T04:36:42Z</dcterms:created>
  <dcterms:modified xsi:type="dcterms:W3CDTF">2026-06-11T23:30:11Z</dcterms:modified>
</cp:coreProperties>
</file>